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49ec3fe864a14" /><Relationship Type="http://schemas.openxmlformats.org/officeDocument/2006/relationships/extended-properties" Target="/docProps/app.xml" Id="R1bb1a9e2949d4cf1" /><Relationship Type="http://schemas.openxmlformats.org/officeDocument/2006/relationships/officeDocument" Target="/ppt/presentation.xml" Id="Rfdc59e864879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55c1953c14268"/>
  </p:sldMasterIdLst>
  <p:notesMasterIdLst>
    <p:notesMasterId xmlns:r="http://schemas.openxmlformats.org/officeDocument/2006/relationships" r:id="R0e7be3e3a6af470e"/>
  </p:notesMasterIdLst>
  <p:sldIdLst>
    <p:sldId xmlns:r="http://schemas.openxmlformats.org/officeDocument/2006/relationships" id="256" r:id="R2d6b16a5daeb4f76"/>
    <p:sldId xmlns:r="http://schemas.openxmlformats.org/officeDocument/2006/relationships" id="257" r:id="R75f36225e7124b38"/>
    <p:sldId xmlns:r="http://schemas.openxmlformats.org/officeDocument/2006/relationships" id="258" r:id="Re7e79a9b0ec04fd9"/>
    <p:sldId xmlns:r="http://schemas.openxmlformats.org/officeDocument/2006/relationships" id="259" r:id="Rb81e5b87e53a45ef"/>
    <p:sldId xmlns:r="http://schemas.openxmlformats.org/officeDocument/2006/relationships" id="260" r:id="Rb4acea4e9fbd45f5"/>
    <p:sldId xmlns:r="http://schemas.openxmlformats.org/officeDocument/2006/relationships" id="261" r:id="Rd4d9612a36f64989"/>
    <p:sldId xmlns:r="http://schemas.openxmlformats.org/officeDocument/2006/relationships" id="262" r:id="R7b6701e6eae54d86"/>
    <p:sldId xmlns:r="http://schemas.openxmlformats.org/officeDocument/2006/relationships" id="263" r:id="R1c3418c8b3d744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dadd4f3434982" /><Relationship Type="http://schemas.openxmlformats.org/officeDocument/2006/relationships/slideMaster" Target="/ppt/slideMasters/slideMaster1.xml" Id="R35555c1953c14268" /><Relationship Type="http://schemas.openxmlformats.org/officeDocument/2006/relationships/notesMaster" Target="/ppt/notesMasters/notesMaster1.xml" Id="R0e7be3e3a6af470e" /><Relationship Type="http://schemas.openxmlformats.org/officeDocument/2006/relationships/presProps" Target="/ppt/presProps.xml" Id="R23eaf1bd8fbd4633" /><Relationship Type="http://schemas.openxmlformats.org/officeDocument/2006/relationships/tableStyles" Target="/ppt/tableStyles.xml" Id="R542799c8bbe242c4" /><Relationship Type="http://schemas.openxmlformats.org/officeDocument/2006/relationships/slide" Target="/ppt/slides/slide1.xml" Id="R2d6b16a5daeb4f76" /><Relationship Type="http://schemas.openxmlformats.org/officeDocument/2006/relationships/slide" Target="/ppt/slides/slide2.xml" Id="R75f36225e7124b38" /><Relationship Type="http://schemas.openxmlformats.org/officeDocument/2006/relationships/slide" Target="/ppt/slides/slide3.xml" Id="Re7e79a9b0ec04fd9" /><Relationship Type="http://schemas.openxmlformats.org/officeDocument/2006/relationships/slide" Target="/ppt/slides/slide4.xml" Id="Rb81e5b87e53a45ef" /><Relationship Type="http://schemas.openxmlformats.org/officeDocument/2006/relationships/slide" Target="/ppt/slides/slide5.xml" Id="Rb4acea4e9fbd45f5" /><Relationship Type="http://schemas.openxmlformats.org/officeDocument/2006/relationships/slide" Target="/ppt/slides/slide6.xml" Id="Rd4d9612a36f64989" /><Relationship Type="http://schemas.openxmlformats.org/officeDocument/2006/relationships/slide" Target="/ppt/slides/slide7.xml" Id="R7b6701e6eae54d86" /><Relationship Type="http://schemas.openxmlformats.org/officeDocument/2006/relationships/slide" Target="/ppt/slides/slide8.xml" Id="R1c3418c8b3d744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74877ea36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cf56c3bee41b4" /><Relationship Type="http://schemas.openxmlformats.org/officeDocument/2006/relationships/notesMaster" Target="/ppt/notesMasters/notesMaster1.xml" Id="R87f5f2a7b76f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2f8c94a2fd4a3d" /><Relationship Type="http://schemas.openxmlformats.org/officeDocument/2006/relationships/notesMaster" Target="/ppt/notesMasters/notesMaster1.xml" Id="Rb0c448f97bf843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47529d20214cbb" /><Relationship Type="http://schemas.openxmlformats.org/officeDocument/2006/relationships/notesMaster" Target="/ppt/notesMasters/notesMaster1.xml" Id="R70811386072f48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6b9ea6c964ee1" /><Relationship Type="http://schemas.openxmlformats.org/officeDocument/2006/relationships/notesMaster" Target="/ppt/notesMasters/notesMaster1.xml" Id="R75a51a8f8c7042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e9b5936d14246" /><Relationship Type="http://schemas.openxmlformats.org/officeDocument/2006/relationships/notesMaster" Target="/ppt/notesMasters/notesMaster1.xml" Id="R44794cc535ce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99f90b199c4978" /><Relationship Type="http://schemas.openxmlformats.org/officeDocument/2006/relationships/notesMaster" Target="/ppt/notesMasters/notesMaster1.xml" Id="R0f2e0a374db540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11bfe6c654c48" /><Relationship Type="http://schemas.openxmlformats.org/officeDocument/2006/relationships/notesMaster" Target="/ppt/notesMasters/notesMaster1.xml" Id="R7fcf644aa8fa43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8f58cd94e54628" /><Relationship Type="http://schemas.openxmlformats.org/officeDocument/2006/relationships/notesMaster" Target="/ppt/notesMasters/notesMaster1.xml" Id="R2b1e1ad9fdf14c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minute. AC215 Fall 2026 MS2. Team: Bei Li, Ernest Ferdian, Dimitris Pipinis, Xiahui Huang. Typed/pasted IELTS Academic Task 2 only. Source: https://harvard-iacs.github.io/2026-AC215/milestone2/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Five custom Dockerfiles and five pyproject.toml/uv.lock pairs. Data services finish successfully before API/web start. Qdrant stores vectors persistently. Google Vertex AI performs actual inference; evidence validation rejects unchecked outputs. References: https://github.com/dlops-io/cheese-app-v0 and https://github.com/rahuldave/babykev. See compose.yaml and docs/setup.md.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131 total: 80 cells, 20 subcriteria, 5 definitions, 7 rules, 9 descriptor pages and 10 teaching pages. Both tasks are indexed for full source coverage; Task 1 is excluded from scoring. Sources: https://ielts.org/cdn/ielts-guides/ielts-writing-band-descriptors.pdf ; https://ielts.org/cdn/ielts-guides/ielts-writing-key-assessment-criteria.pdf ; https://takeielts.britishcouncil.org/sites/default/files/writing_task_2_-_answer_the_questions.pdf . The third source is older supplementary guidance. MS3 candidates are excluded. Evidence: docs/evidence/data_quality.json.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Demonstrate POST /api/retrieve with criterion TR and target 6.5. Returns bands 6 and 7. Scoring does not use the target: filtered mandatory coverage gets all 40 Task 2 cells, 20 checks and applicable definitions/rules; semantic search adds teaching context. Do not confuse cosine similarity with an essay score. Evidence: docs/evidence/retrieval_example.json and rag_verification.json. BAAI/bge-small-en-v1.5, CPU ONNX, 384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Live sample: 273 words, overall 8.0 and four criterion scores 8. These are observed model outputs, not externally validated accuracy. Each tab gives exact original evidence, practical next steps and a revision. The right panel contains official subcriteria, not duplicated score summaries. Source/excerpt checks are structural; they cannot prove the model reasoning is correct. Evidence: docs/evidence/feedback_output.json and app-feedback.png.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Show Goals: target band, position and ideas. Then show complete model essay. A separate fresh Gemini assessment receives only the question and essay, not target/generator notes. The target 7.0 essay was assessed 9.0. This proves the workflow and also exposes target deviation / calibration work. Show the score difference honestly; do not claim a certified score or guaranteed target match. Sources: docs/evidence/model_essay_request.json, model_essay_output.json, app-model.png.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Dedicated project stepwise-ac215-20261010, Harvard self-paid folder, Vertex API and billing enabled. Cloud Shell is temporary, not a persistent production deployment. Source snapshot 3aea32a1828dd022, chunk snapshot 52814016b8103614, index 2da4e8eda6a331b5. Model gemini-3.8-flash. 12 workflow checks, 18 local unit tests, separate 40-case retrieval check. Weak essay 3.0 &lt; sample 8.0. Draft feedback 22.4 seconds in this one run. Receipts include response IDs and token counts. Source: docs/evidence/verification.json, index.json and pipeline.log.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minute. Audit data reuse, score provenance, near duplicates and prompt families before adaptation. Compare prompting vs official RAG vs open-model LoRA. Track criterion MAE, within-0.5 agreement, repeated-run variance, target deviation, latency and tokens. Current integration success is not scoring calibration. Every team member should understand the entire code and demo. Repository https://github.com/dwcqwcqw/stepwise/tree/milestone2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a37a9b9df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d558424814225" /><Relationship Type="http://schemas.openxmlformats.org/officeDocument/2006/relationships/slideLayout" Target="/ppt/slideLayouts/slideLayout1.xml" Id="R1932e8c280bf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2e8c280bf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ab957a474ead" /><Relationship Type="http://schemas.openxmlformats.org/officeDocument/2006/relationships/notesSlide" Target="/ppt/notesSlides/notesSlide1.xml" Id="Rd2a3b908acc7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1708473cd454f" /><Relationship Type="http://schemas.openxmlformats.org/officeDocument/2006/relationships/notesSlide" Target="/ppt/notesSlides/notesSlide2.xml" Id="R53923ef57f19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ce851db80436f" /><Relationship Type="http://schemas.openxmlformats.org/officeDocument/2006/relationships/notesSlide" Target="/ppt/notesSlides/notesSlide3.xml" Id="Rae11050a84d2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43d2c08847a7" /><Relationship Type="http://schemas.openxmlformats.org/officeDocument/2006/relationships/notesSlide" Target="/ppt/notesSlides/notesSlide4.xml" Id="R5b1f48f3e110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b2a468e141e2" /><Relationship Type="http://schemas.openxmlformats.org/officeDocument/2006/relationships/image" Target="/ppt/media/image.png" Id="R7bf89c6eb6ed4ebc" /><Relationship Type="http://schemas.openxmlformats.org/officeDocument/2006/relationships/notesSlide" Target="/ppt/notesSlides/notesSlide5.xml" Id="R5b6b1dd7f8de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dfb3ed386466e" /><Relationship Type="http://schemas.openxmlformats.org/officeDocument/2006/relationships/image" Target="/ppt/media/image2.png" Id="Ree83eebb6022407a" /><Relationship Type="http://schemas.openxmlformats.org/officeDocument/2006/relationships/notesSlide" Target="/ppt/notesSlides/notesSlide6.xml" Id="R796939c34329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a32fbd3de437e" /><Relationship Type="http://schemas.openxmlformats.org/officeDocument/2006/relationships/image" Target="/ppt/media/image3.png" Id="Rd5000a5a39424a13" /><Relationship Type="http://schemas.openxmlformats.org/officeDocument/2006/relationships/notesSlide" Target="/ppt/notesSlides/notesSlide7.xml" Id="R5a4c2d735d8b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e19bae3124044" /><Relationship Type="http://schemas.openxmlformats.org/officeDocument/2006/relationships/notesSlide" Target="/ppt/notesSlides/notesSlide8.xml" Id="R3c6f4cb7a7f544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79ECF-E571-4657-BB81-30A26A8A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Stepwise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DFFF9-0267-47D1-AC2F-97B9FCC1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IELTS Writing Feedback</a:t>
            </a:r>
          </a:p>
          <a:p xmlns:a="http://schemas.openxmlformats.org/drawingml/2006/main">
            <a:pPr>
              <a:defRPr sz="4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&amp; Model Essays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1E136-9979-4DBD-BFAF-156207C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50DD"/>
                </a:solidFill>
                <a:latin typeface="Arial"/>
                <a:ea typeface="Arial"/>
                <a:cs typeface="Arial"/>
              </a:rPr>
              <a:t>Milestone 2 · MLOps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3517E-E7A1-4605-A152-C2208135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Bei Li · Ernest Ferdian · Dimitris Pipinis · Xiahui Huang</a:t>
            </a:r>
          </a:p>
        </p:txBody>
      </p:sp>
    </p:spTree>
    <p:extLst>
      <p:ext uri="{BB962C8B-B14F-4D97-AF65-F5344CB8AC3E}">
        <p14:creationId xmlns:p14="http://schemas.microsoft.com/office/powerpoint/2010/main" val="2123356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DACB9-E1C7-45D5-B316-C210F5E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Containerized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5D69F-1293-41C2-888B-85BAD766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make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9ABA0-C6A0-45DA-ADBE-0CA3E7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Ingest  →  Chunk  →  Embed / index  →  Qdrant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F14A1-83FC-49BB-912B-485EA29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Web  →  FastAPI  →  Official context  →  Gemini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38800-5502-420D-9F56-8B400066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Frozen uv environments and source hashes.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Startup gates and persistent vector storage.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Source IDs, criterion coverage and essay quotes checked.</a:t>
            </a:r>
          </a:p>
        </p:txBody>
      </p:sp>
    </p:spTree>
    <p:extLst>
      <p:ext uri="{BB962C8B-B14F-4D97-AF65-F5344CB8AC3E}">
        <p14:creationId xmlns:p14="http://schemas.microsoft.com/office/powerpoint/2010/main" val="668590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9FDBD-5B33-4A57-9154-59C8B234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Official knowledge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857FB-774F-47D3-B73A-53732E60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131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F8A31-53C3-4516-9C5B-F83C1E5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041"/>
                </a:solidFill>
                <a:latin typeface="Arial"/>
                <a:ea typeface="Arial"/>
                <a:cs typeface="Arial"/>
              </a:rPr>
              <a:t>official source chunks</a:t>
            </a:r>
          </a:p>
          <a:p xmlns:a="http://schemas.openxmlformats.org/drawingml/2006/main">
            <a:pPr>
              <a:defRPr sz="2175" b="0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041"/>
                </a:solidFill>
                <a:latin typeface="Arial"/>
                <a:ea typeface="Arial"/>
                <a:cs typeface="Arial"/>
              </a:rPr>
              <a:t>including every band 0–9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7734C-B2F3-4029-937B-D5602D06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BE51F-3A5E-4AB3-A795-AABF06C1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041"/>
                </a:solidFill>
                <a:latin typeface="Arial"/>
                <a:ea typeface="Arial"/>
                <a:cs typeface="Arial"/>
              </a:rPr>
              <a:t>detailed official checks</a:t>
            </a:r>
          </a:p>
          <a:p xmlns:a="http://schemas.openxmlformats.org/drawingml/2006/main">
            <a:pPr>
              <a:defRPr sz="2175" b="0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041"/>
                </a:solidFill>
                <a:latin typeface="Arial"/>
                <a:ea typeface="Arial"/>
                <a:cs typeface="Arial"/>
              </a:rPr>
              <a:t>TR 5 · CC 5 · LR 6 · GRA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F7539-D64A-40B8-88FA-CBC4ABD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95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Complete band PDF + key criteria + British Council guidance.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Task 2 / shared rules only during assessment.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8,049 candidate essays reserved for MS3; zero loaded now.</a:t>
            </a:r>
          </a:p>
        </p:txBody>
      </p:sp>
    </p:spTree>
    <p:extLst>
      <p:ext uri="{BB962C8B-B14F-4D97-AF65-F5344CB8AC3E}">
        <p14:creationId xmlns:p14="http://schemas.microsoft.com/office/powerpoint/2010/main" val="1234548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4F618-071C-44B4-8784-43089205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Retrieval and scoring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D690D-DE2C-46D6-81A7-D0FDBA5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“How can I develop and support my position</a:t>
            </a:r>
          </a:p>
          <a:p xmlns:a="http://schemas.openxmlformats.org/drawingml/2006/main">
            <a:pPr>
              <a:defRPr sz="2925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with specific examples?”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19DF0-D2BC-4B48-9EC2-F52E2CE1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Task Response  ·  Target 6.5  →  Bands 6 and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EDA08-7343-47B4-A808-C02CB7B0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Each match includes URL, page, band and stable chunk ID.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Assessment retrieves the complete Task 2 band ladder.</a:t>
            </a:r>
          </a:p>
          <a:p xmlns:a="http://schemas.openxmlformats.org/drawingml/2006/main">
            <a:pPr>
              <a:defRPr sz="2100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40 criterion-band cases verified; Task 1 excluded.</a:t>
            </a:r>
          </a:p>
        </p:txBody>
      </p:sp>
    </p:spTree>
    <p:extLst>
      <p:ext uri="{BB962C8B-B14F-4D97-AF65-F5344CB8AC3E}">
        <p14:creationId xmlns:p14="http://schemas.microsoft.com/office/powerpoint/2010/main" val="1848010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29B18-5250-4599-A183-FECDD22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Real criterion feedback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89c6eb6ed4ebc"/>
          <a:stretch xmlns:a="http://schemas.openxmlformats.org/drawingml/2006/main"/>
        </p:blipFill>
        <p:spPr>
          <a:xfrm xmlns:a="http://schemas.openxmlformats.org/drawingml/2006/main">
            <a:off x="951379" y="1333500"/>
            <a:ext cx="5126691" cy="5000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278F9-11F5-437F-9FFD-355FDC8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19250"/>
            <a:ext cx="4572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Four criterion 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Exact draft quotations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Specific revision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20 official detailed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17E9A-A2A5-4728-94E5-D9E0FEA0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7150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50DD"/>
                </a:solidFill>
                <a:latin typeface="Arial"/>
                <a:ea typeface="Arial"/>
                <a:cs typeface="Arial"/>
              </a:rPr>
              <a:t>Source and page links in every criterion</a:t>
            </a:r>
          </a:p>
        </p:txBody>
      </p:sp>
    </p:spTree>
    <p:extLst>
      <p:ext uri="{BB962C8B-B14F-4D97-AF65-F5344CB8AC3E}">
        <p14:creationId xmlns:p14="http://schemas.microsoft.com/office/powerpoint/2010/main" val="1816760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906F5-32F3-4485-95D7-A4E45A34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Model essay and separate assessment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3eebb6022407a"/>
          <a:stretch xmlns:a="http://schemas.openxmlformats.org/drawingml/2006/main"/>
        </p:blipFill>
        <p:spPr>
          <a:xfrm xmlns:a="http://schemas.openxmlformats.org/drawingml/2006/main">
            <a:off x="1389766" y="1333500"/>
            <a:ext cx="6059668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70316-E652-46F2-B1D8-72F3B0A1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Target 7.0</a:t>
            </a:r>
          </a:p>
          <a:p xmlns:a="http://schemas.openxmlformats.org/drawingml/2006/main">
            <a:pPr>
              <a:defRPr sz="255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Assessed 9.0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5AB35-F31E-4547-A563-74D3E0A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Full prose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Your position and ideas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Fresh 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Explained criterion scores</a:t>
            </a:r>
          </a:p>
        </p:txBody>
      </p:sp>
    </p:spTree>
    <p:extLst>
      <p:ext uri="{BB962C8B-B14F-4D97-AF65-F5344CB8AC3E}">
        <p14:creationId xmlns:p14="http://schemas.microsoft.com/office/powerpoint/2010/main" val="1657478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F8322-1E53-4D86-8E1F-A69BA6F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Verified cloud run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00a5a39424a13"/>
          <a:stretch xmlns:a="http://schemas.openxmlformats.org/drawingml/2006/main"/>
        </p:blipFill>
        <p:spPr>
          <a:xfrm xmlns:a="http://schemas.openxmlformats.org/drawingml/2006/main">
            <a:off x="609600" y="1731065"/>
            <a:ext cx="7239000" cy="377687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CC7CD-54AB-4D78-A5FB-BBABE5E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238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18 local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12 workflow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40 retrieval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131 indexed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4011B-DA61-4E1D-BDAD-BC8A29F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171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718B"/>
                </a:solidFill>
                <a:latin typeface="Arial"/>
                <a:ea typeface="Arial"/>
                <a:cs typeface="Arial"/>
              </a:rPr>
              <a:t>make evidence captures receipts without repeating model calls</a:t>
            </a:r>
          </a:p>
        </p:txBody>
      </p:sp>
    </p:spTree>
    <p:extLst>
      <p:ext uri="{BB962C8B-B14F-4D97-AF65-F5344CB8AC3E}">
        <p14:creationId xmlns:p14="http://schemas.microsoft.com/office/powerpoint/2010/main" val="994227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3B4C1-059B-474E-B354-9EDE813D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MS3: adaptation and scoring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99576-B329-4D02-A2A3-57A87519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50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50DD"/>
                </a:solidFill>
                <a:latin typeface="Arial"/>
                <a:ea typeface="Arial"/>
                <a:cs typeface="Arial"/>
              </a:rPr>
              <a:t>Reliable Task 2 data and leakage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9312-3056-4C93-9DF8-DE226E4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Prompting vs official RAG vs open-model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5A234-0C55-4074-ACCC-0A5697A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Criterion agreement and repeated-run variance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074FD-11B6-4D6E-9507-4ACF65C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0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41"/>
                </a:solidFill>
                <a:latin typeface="Arial"/>
                <a:ea typeface="Arial"/>
                <a:cs typeface="Arial"/>
              </a:rPr>
              <a:t>Target-band deviation, latency and inference cost</a:t>
            </a:r>
          </a:p>
        </p:txBody>
      </p:sp>
    </p:spTree>
    <p:extLst>
      <p:ext uri="{BB962C8B-B14F-4D97-AF65-F5344CB8AC3E}">
        <p14:creationId xmlns:p14="http://schemas.microsoft.com/office/powerpoint/2010/main" val="1266671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2026-10-10T16:30:15.6570000Z</dcterms:created>
  <dcterms:modified xsi:type="dcterms:W3CDTF">2026-10-10T16:30:15.6570000Z</dcterms:modified>
</coreProperties>
</file>