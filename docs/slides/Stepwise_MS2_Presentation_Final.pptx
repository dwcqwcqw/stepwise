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88405e1e4e461c" /><Relationship Type="http://schemas.openxmlformats.org/officeDocument/2006/relationships/extended-properties" Target="/docProps/app.xml" Id="R84fbe644a5d54469" /><Relationship Type="http://schemas.openxmlformats.org/officeDocument/2006/relationships/officeDocument" Target="/ppt/presentation.xml" Id="R111295eba87542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65a9847dcd41da"/>
  </p:sldMasterIdLst>
  <p:notesMasterIdLst>
    <p:notesMasterId xmlns:r="http://schemas.openxmlformats.org/officeDocument/2006/relationships" r:id="R5ceca6e6586b44e9"/>
  </p:notesMasterIdLst>
  <p:sldIdLst>
    <p:sldId xmlns:r="http://schemas.openxmlformats.org/officeDocument/2006/relationships" id="256" r:id="R8849ef5db22c4ee3"/>
    <p:sldId xmlns:r="http://schemas.openxmlformats.org/officeDocument/2006/relationships" id="257" r:id="R486c6e46e95e4950"/>
    <p:sldId xmlns:r="http://schemas.openxmlformats.org/officeDocument/2006/relationships" id="258" r:id="Rce9ddc0f785341e3"/>
    <p:sldId xmlns:r="http://schemas.openxmlformats.org/officeDocument/2006/relationships" id="259" r:id="Rce34afcbf1b54fa8"/>
    <p:sldId xmlns:r="http://schemas.openxmlformats.org/officeDocument/2006/relationships" id="260" r:id="R64b69f16b56f4966"/>
    <p:sldId xmlns:r="http://schemas.openxmlformats.org/officeDocument/2006/relationships" id="261" r:id="Red184b5fd0e14c12"/>
    <p:sldId xmlns:r="http://schemas.openxmlformats.org/officeDocument/2006/relationships" id="262" r:id="R932f3b2267694af4"/>
    <p:sldId xmlns:r="http://schemas.openxmlformats.org/officeDocument/2006/relationships" id="263" r:id="R081c2f4f2246462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8861e7e06941ce" /><Relationship Type="http://schemas.openxmlformats.org/officeDocument/2006/relationships/slideMaster" Target="/ppt/slideMasters/slideMaster1.xml" Id="Rb765a9847dcd41da" /><Relationship Type="http://schemas.openxmlformats.org/officeDocument/2006/relationships/notesMaster" Target="/ppt/notesMasters/notesMaster1.xml" Id="R5ceca6e6586b44e9" /><Relationship Type="http://schemas.openxmlformats.org/officeDocument/2006/relationships/presProps" Target="/ppt/presProps.xml" Id="R79d7b1ee261644b4" /><Relationship Type="http://schemas.openxmlformats.org/officeDocument/2006/relationships/tableStyles" Target="/ppt/tableStyles.xml" Id="Rba3bb9520389491e" /><Relationship Type="http://schemas.openxmlformats.org/officeDocument/2006/relationships/slide" Target="/ppt/slides/slide1.xml" Id="R8849ef5db22c4ee3" /><Relationship Type="http://schemas.openxmlformats.org/officeDocument/2006/relationships/slide" Target="/ppt/slides/slide2.xml" Id="R486c6e46e95e4950" /><Relationship Type="http://schemas.openxmlformats.org/officeDocument/2006/relationships/slide" Target="/ppt/slides/slide3.xml" Id="Rce9ddc0f785341e3" /><Relationship Type="http://schemas.openxmlformats.org/officeDocument/2006/relationships/slide" Target="/ppt/slides/slide4.xml" Id="Rce34afcbf1b54fa8" /><Relationship Type="http://schemas.openxmlformats.org/officeDocument/2006/relationships/slide" Target="/ppt/slides/slide5.xml" Id="R64b69f16b56f4966" /><Relationship Type="http://schemas.openxmlformats.org/officeDocument/2006/relationships/slide" Target="/ppt/slides/slide6.xml" Id="Red184b5fd0e14c12" /><Relationship Type="http://schemas.openxmlformats.org/officeDocument/2006/relationships/slide" Target="/ppt/slides/slide7.xml" Id="R932f3b2267694af4" /><Relationship Type="http://schemas.openxmlformats.org/officeDocument/2006/relationships/slide" Target="/ppt/slides/slide8.xml" Id="R081c2f4f224646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b1e8a2b08a42b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ec91d86f0146d4" /><Relationship Type="http://schemas.openxmlformats.org/officeDocument/2006/relationships/notesMaster" Target="/ppt/notesMasters/notesMaster1.xml" Id="R9a94a35a163c41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1af5fc203924d93" /><Relationship Type="http://schemas.openxmlformats.org/officeDocument/2006/relationships/notesMaster" Target="/ppt/notesMasters/notesMaster1.xml" Id="Raa56f32b48a340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d0590a837a4a4d" /><Relationship Type="http://schemas.openxmlformats.org/officeDocument/2006/relationships/notesMaster" Target="/ppt/notesMasters/notesMaster1.xml" Id="Rc8c8e5c4d21d4e6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11ea017d904e54" /><Relationship Type="http://schemas.openxmlformats.org/officeDocument/2006/relationships/notesMaster" Target="/ppt/notesMasters/notesMaster1.xml" Id="Ra8e95bc66b98422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70734a851f54ff5" /><Relationship Type="http://schemas.openxmlformats.org/officeDocument/2006/relationships/notesMaster" Target="/ppt/notesMasters/notesMaster1.xml" Id="R5eb40ea9bc5647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77d515a99843a4" /><Relationship Type="http://schemas.openxmlformats.org/officeDocument/2006/relationships/notesMaster" Target="/ppt/notesMasters/notesMaster1.xml" Id="Rd8b6a7cf23c6459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860b4301ab4b4b" /><Relationship Type="http://schemas.openxmlformats.org/officeDocument/2006/relationships/notesMaster" Target="/ppt/notesMasters/notesMaster1.xml" Id="Rc443f3f20a1a44c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193bd8975849c6" /><Relationship Type="http://schemas.openxmlformats.org/officeDocument/2006/relationships/notesMaster" Target="/ppt/notesMasters/notesMaster1.xml" Id="R253a5995b9274c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AC215 Fall 2026 MS2. Team: Bei Li, Ernest Ferdian, Dimitris Pipinis, Xiahui Huang. Timing: 1 minute. Source: https://harvard-iacs.github.io/2026-AC215/milestone2/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 minutes. Show compose.yaml and the five pyproject/uv.lock pairs. Reference: https://github.com/dlops-io/cheese-app-v0 and https://github.com/rahuldave/babykev.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 minutes. Official source: https://ielts.org/cdn/ielts-guides/ielts-writing-band-descriptors.pdf. Candidate: https://huggingface.co/datasets/chillies/ielts-writing-task2-essays. Actual counts: docs/evidence/data_quality.json.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 minutes. Open docs/evidence/retrieval_example.json. Half-band 6.5 maps to descriptors 6 and 7. Similarity ranks rubric context; it does not score the essay.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 minutes together with the next slide. Live demo: typed/pasted sample -&gt; feedback -&gt; all four criterion tabs. MS2 suggestions are curated templates; actual model scoring is pending MS3.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Continue the 3-minute app demonstration. Submit target band, position and ideas; inspect/download the live backend writing brief. Full generation and separate scoring will be connected in MS3.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 minutes: show cloud instance/container screenshot and actual verification output. 9 local unit tests passed; live HTTP/vector assertions and idempotent rerun are recorded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 minutes. Scope: open-weight baseline/LoRA experiments, approved training data, independent held-out evaluation, tracking and serving. Current retrieval is not a calibrated scorer.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5583824cc8482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f4bd9afc234c4f" /><Relationship Type="http://schemas.openxmlformats.org/officeDocument/2006/relationships/slideLayout" Target="/ppt/slideLayouts/slideLayout1.xml" Id="Re1db291c5fea47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1db291c5fea47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4c4432f2b14630" /><Relationship Type="http://schemas.openxmlformats.org/officeDocument/2006/relationships/notesSlide" Target="/ppt/notesSlides/notesSlide1.xml" Id="R0f7c5d25f4e542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824fe566ca4f28" /><Relationship Type="http://schemas.openxmlformats.org/officeDocument/2006/relationships/notesSlide" Target="/ppt/notesSlides/notesSlide2.xml" Id="R2092c4dcc9bf47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737d3b744b489d" /><Relationship Type="http://schemas.openxmlformats.org/officeDocument/2006/relationships/notesSlide" Target="/ppt/notesSlides/notesSlide3.xml" Id="R83b23412231343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7aff62e084692" /><Relationship Type="http://schemas.openxmlformats.org/officeDocument/2006/relationships/notesSlide" Target="/ppt/notesSlides/notesSlide4.xml" Id="R1cf18b81a50146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5d786c2432428d" /><Relationship Type="http://schemas.openxmlformats.org/officeDocument/2006/relationships/image" Target="/ppt/media/image.jpeg" Id="Rd25d0a7430944f8c" /><Relationship Type="http://schemas.openxmlformats.org/officeDocument/2006/relationships/notesSlide" Target="/ppt/notesSlides/notesSlide5.xml" Id="R3cebb7f48c7344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f9bad6a93f438d" /><Relationship Type="http://schemas.openxmlformats.org/officeDocument/2006/relationships/image" Target="/ppt/media/image2.jpeg" Id="R57b1c9599c2d460d" /><Relationship Type="http://schemas.openxmlformats.org/officeDocument/2006/relationships/notesSlide" Target="/ppt/notesSlides/notesSlide6.xml" Id="Rc52e483f8249426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59e4b35dbe4cc7" /><Relationship Type="http://schemas.openxmlformats.org/officeDocument/2006/relationships/image" Target="/ppt/media/image3.jpeg" Id="R27e2feda68bf4ea5" /><Relationship Type="http://schemas.openxmlformats.org/officeDocument/2006/relationships/notesSlide" Target="/ppt/notesSlides/notesSlide7.xml" Id="Re1e2df6144864a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8e6b0744584730" /><Relationship Type="http://schemas.openxmlformats.org/officeDocument/2006/relationships/notesSlide" Target="/ppt/notesSlides/notesSlide8.xml" Id="Rbc3821fd50ab47a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A2850B-A663-46D2-B979-3F473CCE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Stepwise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6508FE-C27B-4C9B-BE9C-FB713B48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66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IELTS Writing Feedback</a:t>
            </a:r>
          </a:p>
          <a:p xmlns:a="http://schemas.openxmlformats.org/drawingml/2006/main">
            <a:pPr>
              <a:defRPr sz="48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&amp; Model Essays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3968DB-5706-4523-AD1F-7C8D1F70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6550DD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6550DD"/>
                </a:solidFill>
                <a:latin typeface="Arial"/>
                <a:ea typeface="Arial"/>
                <a:cs typeface="Arial"/>
              </a:rPr>
              <a:t>Milestone 2 · MLOps Infrastructure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36BD3F-79FB-4396-A9F1-625FEB49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863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171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1718B"/>
                </a:solidFill>
                <a:latin typeface="Arial"/>
                <a:ea typeface="Arial"/>
                <a:cs typeface="Arial"/>
              </a:rPr>
              <a:t>Bei Li · Ernest Ferdian · Dimitris Pipinis · Xiahui Huang</a:t>
            </a:r>
          </a:p>
        </p:txBody>
      </p:sp>
    </p:spTree>
    <p:extLst>
      <p:ext uri="{BB962C8B-B14F-4D97-AF65-F5344CB8AC3E}">
        <p14:creationId xmlns:p14="http://schemas.microsoft.com/office/powerpoint/2010/main" val="17997370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72B293-505F-4087-9290-7A4758C04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Containerized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26853E-FFD1-44CB-809F-1FB6227D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81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6550DD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6550DD"/>
                </a:solidFill>
                <a:latin typeface="Arial"/>
                <a:ea typeface="Arial"/>
                <a:cs typeface="Arial"/>
              </a:rPr>
              <a:t>make run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EEB267-760E-43B4-B40F-8C564AE4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Ingest  →  Chunk  →  Embed &amp; index  →  Qdrant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452218-7415-4E8A-80FD-9A0257C7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2900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Web gateway  →  FastAPI  →  Filtered rubric retrieval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372319-4AC1-4884-84B9-ABA5F621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76750"/>
            <a:ext cx="10858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1718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1718B"/>
                </a:solidFill>
                <a:latin typeface="Arial"/>
                <a:ea typeface="Arial"/>
                <a:cs typeface="Arial"/>
              </a:rPr>
              <a:t>Five Python containers with frozen uv environments.</a:t>
            </a:r>
          </a:p>
          <a:p xmlns:a="http://schemas.openxmlformats.org/drawingml/2006/main">
            <a:pPr>
              <a:defRPr sz="2100" b="0">
                <a:solidFill>
                  <a:srgbClr val="71718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1718B"/>
                </a:solidFill>
                <a:latin typeface="Arial"/>
                <a:ea typeface="Arial"/>
                <a:cs typeface="Arial"/>
              </a:rPr>
              <a:t>Successful data stages gate application startup.</a:t>
            </a:r>
          </a:p>
          <a:p xmlns:a="http://schemas.openxmlformats.org/drawingml/2006/main">
            <a:pPr>
              <a:defRPr sz="2100" b="0">
                <a:solidFill>
                  <a:srgbClr val="71718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1718B"/>
                </a:solidFill>
                <a:latin typeface="Arial"/>
                <a:ea typeface="Arial"/>
                <a:cs typeface="Arial"/>
              </a:rPr>
              <a:t>The vector database stays on the internal network.</a:t>
            </a:r>
          </a:p>
        </p:txBody>
      </p:sp>
    </p:spTree>
    <p:extLst>
      <p:ext uri="{BB962C8B-B14F-4D97-AF65-F5344CB8AC3E}">
        <p14:creationId xmlns:p14="http://schemas.microsoft.com/office/powerpoint/2010/main" val="1699834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C6A1E0-BDA5-42A0-A09E-BF038E2D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Data sources and quality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966216-1AB1-463C-B2E3-59ADD128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6550DD"/>
                </a:solidFill>
                <a:latin typeface="Arial"/>
                <a:ea typeface="Arial"/>
                <a:cs typeface="Arial"/>
              </a:defRPr>
            </a:pPr>
            <a:r>
              <a:rPr sz="6900" b="1">
                <a:solidFill>
                  <a:srgbClr val="6550DD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05B1BF-D13C-4106-9080-BDB8D0FDA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62250"/>
            <a:ext cx="4572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2041"/>
                </a:solidFill>
                <a:latin typeface="Arial"/>
                <a:ea typeface="Arial"/>
                <a:cs typeface="Arial"/>
              </a:rPr>
              <a:t>official rubric cells</a:t>
            </a:r>
          </a:p>
          <a:p xmlns:a="http://schemas.openxmlformats.org/drawingml/2006/main">
            <a:pPr>
              <a:defRPr sz="2175" b="0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2041"/>
                </a:solidFill>
                <a:latin typeface="Arial"/>
                <a:ea typeface="Arial"/>
                <a:cs typeface="Arial"/>
              </a:rPr>
              <a:t>4 criteria × bands 4–9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EDF5D5-7FB3-4AF0-A8BE-8DC1D8AA1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6550DD"/>
                </a:solidFill>
                <a:latin typeface="Arial"/>
                <a:ea typeface="Arial"/>
                <a:cs typeface="Arial"/>
              </a:defRPr>
            </a:pPr>
            <a:r>
              <a:rPr sz="6900" b="1">
                <a:solidFill>
                  <a:srgbClr val="6550DD"/>
                </a:solidFill>
                <a:latin typeface="Arial"/>
                <a:ea typeface="Arial"/>
                <a:cs typeface="Arial"/>
              </a:rPr>
              <a:t>8049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A0861E-8003-4499-B459-98F475CF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62250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2041"/>
                </a:solidFill>
                <a:latin typeface="Arial"/>
                <a:ea typeface="Arial"/>
                <a:cs typeface="Arial"/>
              </a:rPr>
              <a:t>candidate essays ingested</a:t>
            </a:r>
          </a:p>
          <a:p xmlns:a="http://schemas.openxmlformats.org/drawingml/2006/main">
            <a:pPr>
              <a:defRPr sz="2175" b="0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2041"/>
                </a:solidFill>
                <a:latin typeface="Arial"/>
                <a:ea typeface="Arial"/>
                <a:cs typeface="Arial"/>
              </a:rPr>
              <a:t>8049 valid unique records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2D62E1-B05E-45BE-B88B-CE938B40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29125"/>
            <a:ext cx="10953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1718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1718B"/>
                </a:solidFill>
                <a:latin typeface="Arial"/>
                <a:ea typeface="Arial"/>
                <a:cs typeface="Arial"/>
              </a:rPr>
              <a:t>Pinned source revisions and SHA-256 checks.</a:t>
            </a:r>
          </a:p>
          <a:p xmlns:a="http://schemas.openxmlformats.org/drawingml/2006/main">
            <a:pPr>
              <a:defRPr sz="2100" b="0">
                <a:solidFill>
                  <a:srgbClr val="71718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1718B"/>
                </a:solidFill>
                <a:latin typeface="Arial"/>
                <a:ea typeface="Arial"/>
                <a:cs typeface="Arial"/>
              </a:rPr>
              <a:t>Exact-duplicate checks; normalized prompts remain in one split.</a:t>
            </a:r>
          </a:p>
          <a:p xmlns:a="http://schemas.openxmlformats.org/drawingml/2006/main">
            <a:pPr>
              <a:defRPr sz="2100" b="0">
                <a:solidFill>
                  <a:srgbClr val="71718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1718B"/>
                </a:solidFill>
                <a:latin typeface="Arial"/>
                <a:ea typeface="Arial"/>
                <a:cs typeface="Arial"/>
              </a:rPr>
              <a:t>Official knowledge and adaptation candidates are separate.</a:t>
            </a:r>
          </a:p>
        </p:txBody>
      </p:sp>
    </p:spTree>
    <p:extLst>
      <p:ext uri="{BB962C8B-B14F-4D97-AF65-F5344CB8AC3E}">
        <p14:creationId xmlns:p14="http://schemas.microsoft.com/office/powerpoint/2010/main" val="2885657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F1E751-6509-4020-83FE-B6CE7A11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Retrieval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4C5255-4848-430C-9C4B-526E70C93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“How can I develop and support my position</a:t>
            </a:r>
          </a:p>
          <a:p xmlns:a="http://schemas.openxmlformats.org/drawingml/2006/main">
            <a:pPr>
              <a:defRPr sz="2925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with specific examples?”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7D30E5-D7C1-4B8A-BDF5-E97472E7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6550DD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6550DD"/>
                </a:solidFill>
                <a:latin typeface="Arial"/>
                <a:ea typeface="Arial"/>
                <a:cs typeface="Arial"/>
              </a:rPr>
              <a:t>Academic essay  ·  Task Response  ·  Target 6.5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1CC7AA-30BC-487D-8C91-2FE40CC6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52875"/>
            <a:ext cx="10858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1718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1718B"/>
                </a:solidFill>
                <a:latin typeface="Arial"/>
                <a:ea typeface="Arial"/>
                <a:cs typeface="Arial"/>
              </a:rPr>
              <a:t>Result: official descriptors for bands 6 and 7.</a:t>
            </a:r>
          </a:p>
          <a:p xmlns:a="http://schemas.openxmlformats.org/drawingml/2006/main">
            <a:pPr>
              <a:defRPr sz="2100" b="0">
                <a:solidFill>
                  <a:srgbClr val="71718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1718B"/>
                </a:solidFill>
                <a:latin typeface="Arial"/>
                <a:ea typeface="Arial"/>
                <a:cs typeface="Arial"/>
              </a:rPr>
              <a:t>Each match includes source URL, page, criterion, band and chunk ID.</a:t>
            </a:r>
          </a:p>
          <a:p xmlns:a="http://schemas.openxmlformats.org/drawingml/2006/main">
            <a:pPr>
              <a:defRPr sz="2100" b="0">
                <a:solidFill>
                  <a:srgbClr val="71718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71718B"/>
                </a:solidFill>
                <a:latin typeface="Arial"/>
                <a:ea typeface="Arial"/>
                <a:cs typeface="Arial"/>
              </a:rPr>
              <a:t>384-dimensional CPU embeddings; persistent Qdrant collection.</a:t>
            </a:r>
          </a:p>
        </p:txBody>
      </p:sp>
    </p:spTree>
    <p:extLst>
      <p:ext uri="{BB962C8B-B14F-4D97-AF65-F5344CB8AC3E}">
        <p14:creationId xmlns:p14="http://schemas.microsoft.com/office/powerpoint/2010/main" val="7854895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5D2D46-E634-425E-B030-A110BE3B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Four-criterion feedback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5d0a7430944f8c"/>
          <a:stretch xmlns:a="http://schemas.openxmlformats.org/drawingml/2006/main"/>
        </p:blipFill>
        <p:spPr>
          <a:xfrm xmlns:a="http://schemas.openxmlformats.org/drawingml/2006/main">
            <a:off x="1076201" y="1333500"/>
            <a:ext cx="4781797" cy="50006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86042C-E21E-4EED-974D-B5CDE822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19250"/>
            <a:ext cx="47625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Four criterion tabs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Exact draft quotations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Specific revision steps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Official source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436D4D-7DCC-48F5-9F38-424E351C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150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550D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550DD"/>
                </a:solidFill>
                <a:latin typeface="Arial"/>
                <a:ea typeface="Arial"/>
                <a:cs typeface="Arial"/>
              </a:rPr>
              <a:t>MS2 templates · scoring follows in MS3</a:t>
            </a:r>
          </a:p>
        </p:txBody>
      </p:sp>
    </p:spTree>
    <p:extLst>
      <p:ext uri="{BB962C8B-B14F-4D97-AF65-F5344CB8AC3E}">
        <p14:creationId xmlns:p14="http://schemas.microsoft.com/office/powerpoint/2010/main" val="4205635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FCF21E-03F5-4327-9758-BD7155E07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Requirements for the model essay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b1c9599c2d460d"/>
          <a:stretch xmlns:a="http://schemas.openxmlformats.org/drawingml/2006/main"/>
        </p:blipFill>
        <p:spPr>
          <a:xfrm xmlns:a="http://schemas.openxmlformats.org/drawingml/2006/main">
            <a:off x="1068426" y="1333500"/>
            <a:ext cx="4797348" cy="50006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A2934E-1920-4FCE-9758-56D27C01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19250"/>
            <a:ext cx="47625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Target band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Your position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Ideas to preserve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Live backend writing 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AEF60-146B-44B8-B79A-4CFC72BC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150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550D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550DD"/>
                </a:solidFill>
                <a:latin typeface="Arial"/>
                <a:ea typeface="Arial"/>
                <a:cs typeface="Arial"/>
              </a:rPr>
              <a:t>Generation follows in MS3</a:t>
            </a:r>
          </a:p>
        </p:txBody>
      </p:sp>
    </p:spTree>
    <p:extLst>
      <p:ext uri="{BB962C8B-B14F-4D97-AF65-F5344CB8AC3E}">
        <p14:creationId xmlns:p14="http://schemas.microsoft.com/office/powerpoint/2010/main" val="10068917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9D302-9FB4-4649-BDE5-EDAFECBDA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Running environment and checks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2feda68bf4ea5"/>
          <a:stretch xmlns:a="http://schemas.openxmlformats.org/drawingml/2006/main"/>
        </p:blipFill>
        <p:spPr>
          <a:xfrm xmlns:a="http://schemas.openxmlformats.org/drawingml/2006/main">
            <a:off x="609600" y="1758661"/>
            <a:ext cx="7239000" cy="3816927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DAD895-6DAD-4F58-BDC9-24C76B3C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19250"/>
            <a:ext cx="333375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6550D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6550DD"/>
                </a:solidFill>
                <a:latin typeface="Arial"/>
                <a:ea typeface="Arial"/>
                <a:cs typeface="Arial"/>
              </a:rPr>
              <a:t>9 unit tests passed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1">
                <a:solidFill>
                  <a:srgbClr val="6550D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6550DD"/>
                </a:solidFill>
                <a:latin typeface="Arial"/>
                <a:ea typeface="Arial"/>
                <a:cs typeface="Arial"/>
              </a:rPr>
              <a:t>8 live checks passed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1">
                <a:solidFill>
                  <a:srgbClr val="6550D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6550DD"/>
                </a:solidFill>
                <a:latin typeface="Arial"/>
                <a:ea typeface="Arial"/>
                <a:cs typeface="Arial"/>
              </a:rPr>
              <a:t>Source hashes verified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1">
                <a:solidFill>
                  <a:srgbClr val="6550D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6550DD"/>
                </a:solidFill>
                <a:latin typeface="Arial"/>
                <a:ea typeface="Arial"/>
                <a:cs typeface="Arial"/>
              </a:rPr>
              <a:t>One-command rerun</a:t>
            </a:r>
          </a:p>
        </p:txBody>
      </p:sp>
    </p:spTree>
    <p:extLst>
      <p:ext uri="{BB962C8B-B14F-4D97-AF65-F5344CB8AC3E}">
        <p14:creationId xmlns:p14="http://schemas.microsoft.com/office/powerpoint/2010/main" val="1520999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BA5E91-E924-4F83-99B3-AF0ECD57B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Next: calibrated scoring and generation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754C5A-7A15-4F5E-86D2-0CBB7A31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6550D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550DD"/>
                </a:solidFill>
                <a:latin typeface="Arial"/>
                <a:ea typeface="Arial"/>
                <a:cs typeface="Arial"/>
              </a:rPr>
              <a:t>Data approval and leakage 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121A27-4C34-4B38-A37D-2F7374E7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19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General prompting vs rubric RAG vs LoRA adaptation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CC7E8-77F0-40D7-94EE-3AC611CD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Criterion scores and passage-specific revision examples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224FCF-172E-4719-942F-50678D13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148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0204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02041"/>
                </a:solidFill>
                <a:latin typeface="Arial"/>
                <a:ea typeface="Arial"/>
                <a:cs typeface="Arial"/>
              </a:rPr>
              <a:t>Target-band essay generation with a separate scoring pass</a:t>
            </a:r>
          </a:p>
        </p:txBody>
      </p:sp>
    </p:spTree>
    <p:extLst>
      <p:ext uri="{BB962C8B-B14F-4D97-AF65-F5344CB8AC3E}">
        <p14:creationId xmlns:p14="http://schemas.microsoft.com/office/powerpoint/2010/main" val="8188774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2026-10-10T14:48:22.0100000Z</dcterms:created>
  <dcterms:modified xsi:type="dcterms:W3CDTF">2026-10-10T14:48:22.0100000Z</dcterms:modified>
</coreProperties>
</file>